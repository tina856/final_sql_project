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ina856/final_sql_project/blob/main/docs/dictionary.m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4779"/>
            <a:ext cx="8229600" cy="1164265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989DE4-43DB-4994-A76F-E21147BC97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181" y="2324300"/>
            <a:ext cx="8130619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hy-AM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Analyze global job postings, salary, AI involvement, and automation risk across countries, cities, and companies.</a:t>
            </a:r>
            <a:endParaRPr kumimoji="0" lang="hy-AM" altLang="en-US" sz="22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hy-AM" altLang="en-US" sz="22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PostgreSQL, schema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analytics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.</a:t>
            </a:r>
            <a:endParaRPr kumimoji="0" lang="hy-AM" altLang="en-US" sz="22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y-AM" altLang="en-US" sz="22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Tables: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job_postings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companies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cities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countries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time_dim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.</a:t>
            </a:r>
            <a:endParaRPr kumimoji="0" lang="en-US" altLang="en-US" sz="22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Decisions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808A03-1BA8-4B94-80C4-B1446EDD3D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9938" y="1831857"/>
            <a:ext cx="852183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Schema choice: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Star schema centered on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job_postings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.</a:t>
            </a:r>
            <a:endParaRPr kumimoji="0" lang="hy-AM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Normalization logic: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countries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and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cities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separated → avoids duplication of country/region info.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companies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separate → avoids repeating company details per job.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time_dim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separate → allows analysis across months/years efficiently.</a:t>
            </a:r>
            <a:endParaRPr kumimoji="0" lang="hy-AM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Join strategy: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All joins via primary/foreign keys (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job_postings.company_id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 →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companies.company_id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etc.).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Ensures referential integrity and avoids Cartesian joins.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06" y="178014"/>
            <a:ext cx="8229600" cy="1339702"/>
          </a:xfrm>
        </p:spPr>
        <p:txBody>
          <a:bodyPr>
            <a:noAutofit/>
          </a:bodyPr>
          <a:lstStyle/>
          <a:p>
            <a:r>
              <a:rPr lang="en-US" b="1" dirty="0"/>
              <a:t>ERD (Entity Relationship Diagram)</a:t>
            </a:r>
            <a:br>
              <a:rPr lang="en-US" b="1" dirty="0"/>
            </a:br>
            <a:endParaRPr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08449575-CFD6-4B81-86CC-86DEB762A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608" y="1150071"/>
            <a:ext cx="8003357" cy="570793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312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Analytical Tables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975" y="1621410"/>
            <a:ext cx="8936611" cy="5236590"/>
          </a:xfrm>
        </p:spPr>
        <p:txBody>
          <a:bodyPr>
            <a:noAutofit/>
          </a:bodyPr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Distribution of jobs by region</a:t>
            </a:r>
            <a:r>
              <a:rPr lang="hy-AM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(Question </a:t>
            </a:r>
            <a:r>
              <a:rPr lang="hy-AM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  <a:endParaRPr lang="hy-AM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hy-AM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 5 countries with the highest average salary</a:t>
            </a:r>
            <a:r>
              <a:rPr lang="hy-AM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(Question </a:t>
            </a:r>
            <a:r>
              <a:rPr lang="hy-AM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  <a:endParaRPr lang="hy-AM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hy-AM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 distribution by region, company, title (Question 3).</a:t>
            </a:r>
            <a:endParaRPr lang="hy-AM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 postings over years (Question 4).</a:t>
            </a:r>
          </a:p>
          <a:p>
            <a:pPr algn="ctr"/>
            <a:endParaRPr lang="en-US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Average automation risk by region (Question 5).</a:t>
            </a:r>
          </a:p>
          <a:p>
            <a:pPr algn="ctr"/>
            <a:endParaRPr lang="en-US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Automation risk by seniority (Question 6).</a:t>
            </a:r>
          </a:p>
          <a:p>
            <a:pPr algn="ctr"/>
            <a:endParaRPr lang="en-US"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 intensity and salary overview (Question 7).</a:t>
            </a:r>
            <a:endParaRPr sz="20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43060" y="-61037"/>
            <a:ext cx="8229600" cy="1143000"/>
          </a:xfrm>
        </p:spPr>
        <p:txBody>
          <a:bodyPr/>
          <a:lstStyle/>
          <a:p>
            <a:r>
              <a:rPr lang="en-US" dirty="0"/>
              <a:t>Visuals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5FB0C-A1DF-4B03-B72A-D5F7BC125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2535" y="970416"/>
            <a:ext cx="2610214" cy="23530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BE57E-EEA1-4685-832A-9A65A3A38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5" y="3259881"/>
            <a:ext cx="2610214" cy="1448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0ABCAC-2BCC-40F8-B58E-985B59357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053" y="4354361"/>
            <a:ext cx="3010320" cy="2353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CCA47A-4095-4A74-A4C8-E75EDEB7D1DD}"/>
              </a:ext>
            </a:extLst>
          </p:cNvPr>
          <p:cNvSpPr txBox="1"/>
          <p:nvPr/>
        </p:nvSpPr>
        <p:spPr>
          <a:xfrm>
            <a:off x="150829" y="5555203"/>
            <a:ext cx="51271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Average automation risk level by region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781B3D-CD01-4665-AC14-1D624D794D35}"/>
              </a:ext>
            </a:extLst>
          </p:cNvPr>
          <p:cNvSpPr txBox="1"/>
          <p:nvPr/>
        </p:nvSpPr>
        <p:spPr>
          <a:xfrm>
            <a:off x="235670" y="1812396"/>
            <a:ext cx="4817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Distribution of jobs by regions (Regions)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CE813CF-6649-4B8B-B37E-8B5E6FBE78EE}"/>
              </a:ext>
            </a:extLst>
          </p:cNvPr>
          <p:cNvCxnSpPr>
            <a:cxnSpLocks/>
          </p:cNvCxnSpPr>
          <p:nvPr/>
        </p:nvCxnSpPr>
        <p:spPr>
          <a:xfrm>
            <a:off x="4572000" y="2033744"/>
            <a:ext cx="1095053" cy="26706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7BD167B-C246-47A5-B7AF-E2A8A6B1F84C}"/>
              </a:ext>
            </a:extLst>
          </p:cNvPr>
          <p:cNvCxnSpPr/>
          <p:nvPr/>
        </p:nvCxnSpPr>
        <p:spPr>
          <a:xfrm>
            <a:off x="4572000" y="5776374"/>
            <a:ext cx="961534" cy="1846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AADE6A0-3D35-433C-95B5-37261367C8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93650" y="3931142"/>
            <a:ext cx="1527143" cy="580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649966E-6CCD-4E0D-975A-30622673CC07}"/>
              </a:ext>
            </a:extLst>
          </p:cNvPr>
          <p:cNvSpPr txBox="1"/>
          <p:nvPr/>
        </p:nvSpPr>
        <p:spPr>
          <a:xfrm>
            <a:off x="5118754" y="368142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Average salary analysis by country: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584" y="2102177"/>
            <a:ext cx="7814820" cy="4590854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data_dictionary.md</a:t>
            </a:r>
            <a:r>
              <a:rPr lang="hy-AM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Shows column definitions, data types, descriptions, constraints.</a:t>
            </a:r>
          </a:p>
          <a:p>
            <a:pPr marL="0" indent="0">
              <a:buNone/>
            </a:pPr>
            <a:endParaRPr lang="hy-AM" dirty="0">
              <a:hlinkClick r:id="rId2"/>
            </a:endParaRPr>
          </a:p>
          <a:p>
            <a:pPr marL="0" indent="0">
              <a:buNone/>
            </a:pPr>
            <a:endParaRPr lang="hy-AM" dirty="0">
              <a:hlinkClick r:id="rId2"/>
            </a:endParaRPr>
          </a:p>
          <a:p>
            <a:pPr marL="0" indent="0" algn="ctr">
              <a:buNone/>
            </a:pPr>
            <a:r>
              <a:rPr lang="en-US" sz="2500" dirty="0">
                <a:hlinkClick r:id="rId2"/>
              </a:rPr>
              <a:t>https://github.com/Tina856/final_sql_project/blob/main/docs/dictionary.md</a:t>
            </a:r>
            <a:endParaRPr lang="hy-AM" sz="2500" dirty="0"/>
          </a:p>
          <a:p>
            <a:pPr marL="0" indent="0">
              <a:buNone/>
            </a:pPr>
            <a:endParaRPr lang="hy-AM"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CAC70D90-B89A-429E-ADBA-97B12204632B}"/>
              </a:ext>
            </a:extLst>
          </p:cNvPr>
          <p:cNvSpPr/>
          <p:nvPr/>
        </p:nvSpPr>
        <p:spPr>
          <a:xfrm>
            <a:off x="4119513" y="3318235"/>
            <a:ext cx="254524" cy="66930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95" y="274638"/>
            <a:ext cx="8955464" cy="1143000"/>
          </a:xfrm>
        </p:spPr>
        <p:txBody>
          <a:bodyPr>
            <a:noAutofit/>
          </a:bodyPr>
          <a:lstStyle/>
          <a:p>
            <a:r>
              <a:rPr lang="en-US" dirty="0"/>
              <a:t>Analytical Findings / Business 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9055"/>
            <a:ext cx="8229600" cy="4613160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 postings are concentrated in AI/engineering roles.</a:t>
            </a:r>
          </a:p>
          <a:p>
            <a:pPr algn="ctr"/>
            <a:endParaRPr lang="en-US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 postings per year are stable (~300/year).</a:t>
            </a:r>
          </a:p>
          <a:p>
            <a:pPr algn="ctr"/>
            <a:endParaRPr lang="en-US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Automation risk is slightly higher in South Asia and Europe.</a:t>
            </a:r>
          </a:p>
          <a:p>
            <a:pPr algn="ctr"/>
            <a:endParaRPr lang="en-US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Junior vs senior automation risk shows executives have unexpectedly high risk scores.</a:t>
            </a:r>
          </a:p>
          <a:p>
            <a:pPr algn="ctr"/>
            <a:endParaRPr lang="en-US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AI-intensive roles correlate with slightly higher salaries (~$63k average).</a:t>
            </a:r>
            <a:endParaRPr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336</Words>
  <Application>Microsoft Office PowerPoint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Unicode MS</vt:lpstr>
      <vt:lpstr>Calibri</vt:lpstr>
      <vt:lpstr>Office Theme</vt:lpstr>
      <vt:lpstr>Project Overview</vt:lpstr>
      <vt:lpstr>Design Decisions</vt:lpstr>
      <vt:lpstr>ERD (Entity Relationship Diagram) </vt:lpstr>
      <vt:lpstr>Analytical Tables</vt:lpstr>
      <vt:lpstr>Visuals</vt:lpstr>
      <vt:lpstr>Data Dictionary</vt:lpstr>
      <vt:lpstr>Analytical Findings / 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subject/>
  <dc:creator>User</dc:creator>
  <cp:keywords/>
  <dc:description>generated using python-pptx</dc:description>
  <cp:lastModifiedBy>tinpoghosyan@gmail.com</cp:lastModifiedBy>
  <cp:revision>7</cp:revision>
  <dcterms:created xsi:type="dcterms:W3CDTF">2013-01-27T09:14:16Z</dcterms:created>
  <dcterms:modified xsi:type="dcterms:W3CDTF">2026-02-20T05:59:39Z</dcterms:modified>
  <cp:category/>
</cp:coreProperties>
</file>